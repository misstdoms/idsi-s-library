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9" r:id="rId2"/>
    <p:sldId id="256" r:id="rId3"/>
    <p:sldId id="257" r:id="rId4"/>
    <p:sldId id="258" r:id="rId5"/>
    <p:sldId id="259" r:id="rId6"/>
    <p:sldId id="290" r:id="rId7"/>
    <p:sldId id="291" r:id="rId8"/>
    <p:sldId id="294" r:id="rId9"/>
    <p:sldId id="260" r:id="rId10"/>
    <p:sldId id="293" r:id="rId11"/>
    <p:sldId id="292" r:id="rId12"/>
    <p:sldId id="265" r:id="rId13"/>
    <p:sldId id="263" r:id="rId14"/>
    <p:sldId id="261" r:id="rId15"/>
    <p:sldId id="262" r:id="rId16"/>
    <p:sldId id="264" r:id="rId17"/>
    <p:sldId id="266" r:id="rId18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539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12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12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648E1-0DDA-6D7B-1CB0-B9ED2DFE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7227D-651E-0F61-960E-7F2E6DFD1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4A44A-CFB4-CD2A-656C-A2B84A951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1ACB1-F090-DAA4-4BB5-7266A5D3C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61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61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36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07275" y="542250"/>
            <a:ext cx="7129500" cy="17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7720207" y="98296"/>
            <a:ext cx="1877675" cy="476500"/>
          </a:xfrm>
          <a:custGeom>
            <a:avLst/>
            <a:gdLst/>
            <a:ahLst/>
            <a:cxnLst/>
            <a:rect l="l" t="t" r="r" b="b"/>
            <a:pathLst>
              <a:path w="75107" h="19060" extrusionOk="0">
                <a:moveTo>
                  <a:pt x="67344" y="17837"/>
                </a:moveTo>
                <a:cubicBezTo>
                  <a:pt x="55984" y="20359"/>
                  <a:pt x="9135" y="18368"/>
                  <a:pt x="1528" y="17306"/>
                </a:cubicBezTo>
                <a:cubicBezTo>
                  <a:pt x="-6079" y="16244"/>
                  <a:pt x="16950" y="14164"/>
                  <a:pt x="21703" y="11465"/>
                </a:cubicBezTo>
                <a:cubicBezTo>
                  <a:pt x="26456" y="8766"/>
                  <a:pt x="22050" y="2661"/>
                  <a:pt x="30047" y="1112"/>
                </a:cubicBezTo>
                <a:cubicBezTo>
                  <a:pt x="38044" y="-436"/>
                  <a:pt x="63470" y="-613"/>
                  <a:pt x="69686" y="2174"/>
                </a:cubicBezTo>
                <a:cubicBezTo>
                  <a:pt x="75902" y="4962"/>
                  <a:pt x="78704" y="15315"/>
                  <a:pt x="67344" y="17837"/>
                </a:cubicBezTo>
                <a:close/>
              </a:path>
            </a:pathLst>
          </a:custGeom>
          <a:solidFill>
            <a:srgbClr val="FFFFFF">
              <a:alpha val="7044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" name="Google Shape;11;p2"/>
          <p:cNvSpPr/>
          <p:nvPr/>
        </p:nvSpPr>
        <p:spPr>
          <a:xfrm>
            <a:off x="1305475" y="-166875"/>
            <a:ext cx="450300" cy="450300"/>
          </a:xfrm>
          <a:prstGeom prst="ellipse">
            <a:avLst/>
          </a:prstGeom>
          <a:solidFill>
            <a:srgbClr val="FFFFFF">
              <a:alpha val="704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035450" y="-436900"/>
            <a:ext cx="990300" cy="990300"/>
          </a:xfrm>
          <a:prstGeom prst="ellipse">
            <a:avLst/>
          </a:prstGeom>
          <a:gradFill>
            <a:gsLst>
              <a:gs pos="0">
                <a:srgbClr val="FFFFFF">
                  <a:alpha val="70440"/>
                </a:srgbClr>
              </a:gs>
              <a:gs pos="100000">
                <a:srgbClr val="FFFFFF">
                  <a:alpha val="0"/>
                  <a:alpha val="7044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326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A9DFDF1-5C27-766E-136E-86A3F57A010D}"/>
              </a:ext>
            </a:extLst>
          </p:cNvPr>
          <p:cNvSpPr/>
          <p:nvPr/>
        </p:nvSpPr>
        <p:spPr>
          <a:xfrm>
            <a:off x="395013" y="3333863"/>
            <a:ext cx="3160832" cy="1693129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0EA1D44-42F4-E55B-9C03-D70B4F240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717" y="2652421"/>
            <a:ext cx="6746565" cy="777843"/>
          </a:xfrm>
        </p:spPr>
        <p:txBody>
          <a:bodyPr/>
          <a:lstStyle/>
          <a:p>
            <a:r>
              <a:rPr lang="fr-CA" sz="2800" b="1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</a:rPr>
              <a:t>PROJET PROGRAMMATION PYTHON</a:t>
            </a:r>
            <a:br>
              <a:rPr lang="fr-FR" sz="2800" b="1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</a:rPr>
            </a:br>
            <a:endParaRPr lang="fr-FR" sz="2800" dirty="0"/>
          </a:p>
        </p:txBody>
      </p:sp>
      <p:sp>
        <p:nvSpPr>
          <p:cNvPr id="7" name="Zone de texte 2">
            <a:extLst>
              <a:ext uri="{FF2B5EF4-FFF2-40B4-BE49-F238E27FC236}">
                <a16:creationId xmlns:a16="http://schemas.microsoft.com/office/drawing/2014/main" id="{00BB93D0-B5D0-48FA-43DC-3E6B8C589B52}"/>
              </a:ext>
            </a:extLst>
          </p:cNvPr>
          <p:cNvSpPr txBox="1"/>
          <p:nvPr/>
        </p:nvSpPr>
        <p:spPr>
          <a:xfrm>
            <a:off x="3245087" y="916773"/>
            <a:ext cx="2072640" cy="34290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UNION-DISCIPLINE-TRAVAIL</a:t>
            </a:r>
            <a:endParaRPr lang="fr-F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105F5C9C-28D7-D0AA-2830-6B5F84A83B8E}"/>
              </a:ext>
            </a:extLst>
          </p:cNvPr>
          <p:cNvGrpSpPr/>
          <p:nvPr/>
        </p:nvGrpSpPr>
        <p:grpSpPr>
          <a:xfrm>
            <a:off x="2477372" y="0"/>
            <a:ext cx="3924821" cy="2638082"/>
            <a:chOff x="2298953" y="0"/>
            <a:chExt cx="3924821" cy="2638082"/>
          </a:xfrm>
        </p:grpSpPr>
        <p:sp>
          <p:nvSpPr>
            <p:cNvPr id="3" name="Zone de texte 2">
              <a:extLst>
                <a:ext uri="{FF2B5EF4-FFF2-40B4-BE49-F238E27FC236}">
                  <a16:creationId xmlns:a16="http://schemas.microsoft.com/office/drawing/2014/main" id="{99867EF2-A15E-25AF-6D6A-CB02D2DFC519}"/>
                </a:ext>
              </a:extLst>
            </p:cNvPr>
            <p:cNvSpPr txBox="1"/>
            <p:nvPr/>
          </p:nvSpPr>
          <p:spPr>
            <a:xfrm>
              <a:off x="2917698" y="0"/>
              <a:ext cx="2552700" cy="34290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fr-FR" sz="1200" b="1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REPUBLIQUE DE COTE D’IVOIRE</a:t>
              </a:r>
              <a:endParaRPr lang="fr-FR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C3B37E76-3EFC-120F-BA1A-641C916D6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33978" y="310269"/>
              <a:ext cx="938022" cy="620538"/>
            </a:xfrm>
            <a:prstGeom prst="rect">
              <a:avLst/>
            </a:prstGeom>
          </p:spPr>
        </p:pic>
        <p:pic>
          <p:nvPicPr>
            <p:cNvPr id="8" name="Image 7" descr="Accueil | Ministère de l’enseignement supérieur et de la recherche ...">
              <a:extLst>
                <a:ext uri="{FF2B5EF4-FFF2-40B4-BE49-F238E27FC236}">
                  <a16:creationId xmlns:a16="http://schemas.microsoft.com/office/drawing/2014/main" id="{075A639F-EA0E-9A21-B83A-73B409BF6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6131" y="1123611"/>
              <a:ext cx="2273715" cy="8925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Image 8" descr="INP-HB | CEA-MEM">
              <a:extLst>
                <a:ext uri="{FF2B5EF4-FFF2-40B4-BE49-F238E27FC236}">
                  <a16:creationId xmlns:a16="http://schemas.microsoft.com/office/drawing/2014/main" id="{1BAE33BD-A1A0-B77D-8BEC-575F50082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8953" y="1799048"/>
              <a:ext cx="3608070" cy="4768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Zone de texte 10">
              <a:extLst>
                <a:ext uri="{FF2B5EF4-FFF2-40B4-BE49-F238E27FC236}">
                  <a16:creationId xmlns:a16="http://schemas.microsoft.com/office/drawing/2014/main" id="{5A73D515-C1F0-84E0-936A-B5332276EBC1}"/>
                </a:ext>
              </a:extLst>
            </p:cNvPr>
            <p:cNvSpPr txBox="1"/>
            <p:nvPr/>
          </p:nvSpPr>
          <p:spPr>
            <a:xfrm>
              <a:off x="2756674" y="2342172"/>
              <a:ext cx="3467100" cy="29591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fr-FR" sz="11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INTERNATIONAL DATA SCIENCE INSTITUTE (IDSI)</a:t>
              </a:r>
              <a:endParaRPr lang="fr-FR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Zone de texte 15">
            <a:extLst>
              <a:ext uri="{FF2B5EF4-FFF2-40B4-BE49-F238E27FC236}">
                <a16:creationId xmlns:a16="http://schemas.microsoft.com/office/drawing/2014/main" id="{AD282EE5-9C82-5734-CAAD-74197BAB6FF1}"/>
              </a:ext>
            </a:extLst>
          </p:cNvPr>
          <p:cNvSpPr txBox="1"/>
          <p:nvPr/>
        </p:nvSpPr>
        <p:spPr>
          <a:xfrm>
            <a:off x="527564" y="3407458"/>
            <a:ext cx="2895730" cy="161953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200" b="1" u="sng" kern="100" dirty="0" err="1">
                <a:ln>
                  <a:noFill/>
                </a:ln>
                <a:effectLst/>
                <a:latin typeface="Hammersmith One" panose="020107030305010605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EtudiantS</a:t>
            </a:r>
            <a:r>
              <a:rPr lang="fr-FR" sz="1200" b="1" u="sng" kern="100" dirty="0">
                <a:ln>
                  <a:noFill/>
                </a:ln>
                <a:effectLst/>
                <a:latin typeface="Hammersmith One" panose="020107030305010605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 :</a:t>
            </a:r>
            <a:endParaRPr lang="fr-FR" sz="1200" kern="100" dirty="0">
              <a:effectLst/>
              <a:latin typeface="Hammersmith One" panose="02010703030501060504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300" b="1" kern="100" dirty="0">
                <a:effectLst/>
                <a:latin typeface="Hammersmith One" panose="020107030305010605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SORO TCHEWA AMY DOMA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300" b="1" kern="100" dirty="0">
                <a:latin typeface="Hammersmith One" panose="020107030305010605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TRAORE IBRAHIM</a:t>
            </a:r>
            <a:endParaRPr lang="fr-FR" sz="1200" kern="100" dirty="0">
              <a:effectLst/>
              <a:latin typeface="Hammersmith One" panose="02010703030501060504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050" i="1" kern="100" dirty="0">
                <a:effectLst/>
                <a:latin typeface="Hammersmith One" panose="020107030305010605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Elèves En Master 1 Data Science Big Data Et Intelligence Artificielle, Sécurité</a:t>
            </a:r>
            <a:r>
              <a:rPr lang="fr-FR" sz="1050" i="1" kern="100" dirty="0">
                <a:latin typeface="Hammersmith One" panose="020107030305010605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cybersécurité Et Intelligence Artificielle</a:t>
            </a:r>
            <a:endParaRPr lang="fr-FR" sz="1200" kern="100" dirty="0">
              <a:effectLst/>
              <a:latin typeface="Hammersmith One" panose="02010703030501060504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300" kern="100" dirty="0">
                <a:effectLst/>
                <a:latin typeface="Hammersmith One" panose="020107030305010605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fr-FR" sz="1200" kern="100" dirty="0">
              <a:effectLst/>
              <a:latin typeface="Hammersmith One" panose="02010703030501060504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1E60A3F-AEAA-C333-57CD-B245163307BD}"/>
              </a:ext>
            </a:extLst>
          </p:cNvPr>
          <p:cNvSpPr/>
          <p:nvPr/>
        </p:nvSpPr>
        <p:spPr>
          <a:xfrm>
            <a:off x="5555360" y="3382976"/>
            <a:ext cx="3251835" cy="1355337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3" name="Zone de texte 15">
            <a:extLst>
              <a:ext uri="{FF2B5EF4-FFF2-40B4-BE49-F238E27FC236}">
                <a16:creationId xmlns:a16="http://schemas.microsoft.com/office/drawing/2014/main" id="{3C85291A-C536-F245-6F7B-2A02188B8A4C}"/>
              </a:ext>
            </a:extLst>
          </p:cNvPr>
          <p:cNvSpPr txBox="1"/>
          <p:nvPr/>
        </p:nvSpPr>
        <p:spPr>
          <a:xfrm>
            <a:off x="5605842" y="3502759"/>
            <a:ext cx="3150870" cy="1004442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300" b="1" u="sng" kern="100" dirty="0">
                <a:solidFill>
                  <a:schemeClr val="dk1"/>
                </a:solidFill>
                <a:latin typeface="Hammersmith One" panose="02010703030501060504" pitchFamily="2" charset="0"/>
                <a:cs typeface="Times New Roman" panose="02020603050405020304" pitchFamily="18" charset="0"/>
              </a:rPr>
              <a:t>Professeur</a:t>
            </a:r>
            <a:r>
              <a:rPr lang="fr-FR" sz="1300" b="1" kern="100" dirty="0">
                <a:solidFill>
                  <a:schemeClr val="dk1"/>
                </a:solidFill>
                <a:latin typeface="Hammersmith One" panose="02010703030501060504" pitchFamily="2" charset="0"/>
                <a:cs typeface="Times New Roman" panose="02020603050405020304" pitchFamily="18" charset="0"/>
              </a:rPr>
              <a:t> : 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300" b="1" kern="100" dirty="0">
                <a:solidFill>
                  <a:schemeClr val="dk1"/>
                </a:solidFill>
                <a:latin typeface="Hammersmith One" panose="02010703030501060504" pitchFamily="2" charset="0"/>
                <a:cs typeface="Times New Roman" panose="02020603050405020304" pitchFamily="18" charset="0"/>
              </a:rPr>
              <a:t>Monsieur KADJO LAMBERT</a:t>
            </a:r>
          </a:p>
        </p:txBody>
      </p:sp>
    </p:spTree>
    <p:extLst>
      <p:ext uri="{BB962C8B-B14F-4D97-AF65-F5344CB8AC3E}">
        <p14:creationId xmlns:p14="http://schemas.microsoft.com/office/powerpoint/2010/main" val="4287148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1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106800" y="971552"/>
            <a:ext cx="6002363" cy="144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Système de Gestion de Bibliothèque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780000" y="2577466"/>
            <a:ext cx="490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Data Science Institute (IDSI)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40800" y="342328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• Big Data • Intelligence Artificielle • Cybersécurité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61800" y="4149088"/>
            <a:ext cx="2743200" cy="457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8" descr="Une image contenant scène, intérieur, pièce, texte&#10;&#10;Le contenu généré par l’IA peut être incorrect.">
            <a:extLst>
              <a:ext uri="{FF2B5EF4-FFF2-40B4-BE49-F238E27FC236}">
                <a16:creationId xmlns:a16="http://schemas.microsoft.com/office/drawing/2014/main" id="{9F7B738F-34B4-94AB-6E77-8F60BC6F6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10800" y="0"/>
            <a:ext cx="5922000" cy="5143500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E5969979-96DD-F7EC-39C4-19E0A7438C47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A9F5AD14-9CC9-9C32-B29B-80449B3938B6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0952F2D6-B9A3-0158-3295-044BECAA7852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1/18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l'Application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651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Principales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566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Gestion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023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d'Utilisation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080" y="4480560"/>
            <a:ext cx="411480" cy="41148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4008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800" dirty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3BEDD2C5-ACD1-6E08-3457-E80A6545CCFE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0F4AAEBB-8A93-EDDF-AD52-18D6DECAA346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7348EE19-C62E-828E-E1BB-D5306A68B2C7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2/18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Présentation</a:t>
            </a:r>
            <a:r>
              <a:rPr lang="en-US" sz="32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du Projet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18288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développée dans le cadre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cours de Programmation Python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l'IDSI pour la gestion complète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 bibliothèque universitaire.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73152" cy="18288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solution complète 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bibliothèque avec: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Interface moderne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Gestion des emprunts/retours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Système de pénalités</a:t>
            </a:r>
            <a:endParaRPr lang="en-US" sz="1300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97715C8-404C-EC68-D5C0-F181819453C5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7541E635-5964-4EF7-4E3E-5BFEE772FB5E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4AF77262-2A6B-38FF-28FC-14C80E6A0828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3/18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Technologies Utilisées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3.9+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554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CustomTkinter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moderne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1554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2648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🗄️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Base de données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51760" cy="1554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51760" cy="7315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locale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651760" cy="1554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91840" y="3017520"/>
            <a:ext cx="265176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29184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🖼️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329184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d'images</a:t>
            </a:r>
            <a:endParaRPr lang="en-US" sz="1100" dirty="0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7D2EDA96-B401-96F7-6D66-DEBE7D3E6D79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4C6893FD-BEE6-F326-79B8-BAA6889848D8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C8FBA346-E1A6-33E4-C75D-6BD420AE2AEA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4/18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Qu'est-ce</a:t>
            </a:r>
            <a:r>
              <a:rPr lang="en-US" sz="32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que CustomTkinter 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CustomTkinter est une bibliothèque Python moderne qui étend Tkinter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créer des interfaces graphiques (GUI) avec un design contemporain.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0802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classique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21447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CustomTkinter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5680" y="2432304"/>
            <a:ext cx="3048000" cy="1339596"/>
          </a:xfrm>
          <a:prstGeom prst="rect">
            <a:avLst/>
          </a:prstGeom>
          <a:solidFill>
            <a:srgbClr val="E0E0E0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371600" y="2539746"/>
            <a:ext cx="2103120" cy="457200"/>
          </a:xfrm>
          <a:prstGeom prst="rect">
            <a:avLst/>
          </a:prstGeom>
          <a:solidFill>
            <a:srgbClr val="D4D4D4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325880" y="255346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138678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440180" y="313867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81228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Design daté (années 90)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00320" y="2450338"/>
            <a:ext cx="3048000" cy="13619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600700" y="2761742"/>
            <a:ext cx="2103120" cy="4572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501640" y="277545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08320" y="3313938"/>
            <a:ext cx="21031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638800" y="3332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Texte...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85127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Design moderne et épuré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71340" y="30718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561340" y="4155186"/>
            <a:ext cx="7661226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77240" y="41970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customtkinter as ctk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4119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ctk.CTk()  # Fenêtre moderne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63791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 = ctk.CTkButton(app, text='Cliquez')</a:t>
            </a:r>
            <a:endParaRPr lang="en-US" sz="1100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46526012-099F-4DD3-95B2-0F81ACE786AE}"/>
              </a:ext>
            </a:extLst>
          </p:cNvPr>
          <p:cNvGrpSpPr/>
          <p:nvPr/>
        </p:nvGrpSpPr>
        <p:grpSpPr>
          <a:xfrm>
            <a:off x="8609427" y="4717395"/>
            <a:ext cx="520505" cy="389675"/>
            <a:chOff x="8574258" y="4681728"/>
            <a:chExt cx="520505" cy="389675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48393AD3-9D22-2044-5758-16EE379D0DC0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9C2A316F-D608-04A8-6349-0F14F4EB556B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5/18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1314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Qu'est-ce</a:t>
            </a:r>
            <a:r>
              <a:rPr lang="en-US" sz="32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que SQLAlchemy 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est un ORM (Object-Relational Mapping) pour Python.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permet de manipuler une base de données en utilisant des objets Python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d'écrire des requêtes SQL manuellement.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ça fonctionne 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286000" cy="1097280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Objets Python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Etudiant, Livre...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429000" y="2560320"/>
            <a:ext cx="2286000" cy="1097280"/>
          </a:xfrm>
          <a:prstGeom prst="rect">
            <a:avLst/>
          </a:prstGeom>
          <a:solidFill>
            <a:srgbClr val="D5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42900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290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/ Traducteur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2286000" cy="1097280"/>
          </a:xfrm>
          <a:prstGeom prst="rect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0080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MySQL...</a:t>
            </a:r>
            <a:endParaRPr lang="en-US" sz="1100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9EADD4A0-20BC-C70C-E13D-FB9533AD9CAE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2E3022E8-1E88-A199-E237-00658AFB1524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54BE7AB6-80D6-1A9F-BD32-6FD28BA2BB96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6/18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194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E2EB-C9AF-1033-B6AE-180DCE97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32D6BD-0EDA-D58D-820F-0DED70A2F061}"/>
              </a:ext>
            </a:extLst>
          </p:cNvPr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Qu'est-ce</a:t>
            </a:r>
            <a:r>
              <a:rPr lang="en-US" sz="32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que SQLAlchemy ?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5137DD-7E88-D6A8-AC9F-0A6C3DABED1E}"/>
              </a:ext>
            </a:extLst>
          </p:cNvPr>
          <p:cNvSpPr/>
          <p:nvPr/>
        </p:nvSpPr>
        <p:spPr>
          <a:xfrm>
            <a:off x="457200" y="868680"/>
            <a:ext cx="1828800" cy="5486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FBD273-1275-AFD6-48A3-1731DD4A849D}"/>
              </a:ext>
            </a:extLst>
          </p:cNvPr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F80E0E2-2351-371B-1E95-2E4F84BE5B00}"/>
              </a:ext>
            </a:extLst>
          </p:cNvPr>
          <p:cNvSpPr/>
          <p:nvPr/>
        </p:nvSpPr>
        <p:spPr>
          <a:xfrm>
            <a:off x="640080" y="1143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est un ORM (Object-Relational Mapping) pour Python.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permet de manipuler une base de données en utilisant des objets Python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d'écrire des requêtes SQL manuellement.</a:t>
            </a:r>
            <a:endParaRPr lang="en-US" sz="15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66BD3CD-44BB-35A5-D9EE-A1067F67957C}"/>
              </a:ext>
            </a:extLst>
          </p:cNvPr>
          <p:cNvSpPr/>
          <p:nvPr/>
        </p:nvSpPr>
        <p:spPr>
          <a:xfrm>
            <a:off x="402799" y="2156942"/>
            <a:ext cx="402336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2BA18E5-ABE7-C55F-C3D7-C938CA5C8E74}"/>
              </a:ext>
            </a:extLst>
          </p:cNvPr>
          <p:cNvSpPr/>
          <p:nvPr/>
        </p:nvSpPr>
        <p:spPr>
          <a:xfrm>
            <a:off x="91440" y="22131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classique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C98707B-B5EC-5C38-64A9-595F1BA1141B}"/>
              </a:ext>
            </a:extLst>
          </p:cNvPr>
          <p:cNvSpPr/>
          <p:nvPr/>
        </p:nvSpPr>
        <p:spPr>
          <a:xfrm>
            <a:off x="594360" y="2610265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</a:t>
            </a: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* FROM etudiants"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</a:t>
            </a: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"INSERT INTO..."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F1B7CAC-9BF6-DEFA-5DCC-D3DD11AD46E2}"/>
              </a:ext>
            </a:extLst>
          </p:cNvPr>
          <p:cNvSpPr/>
          <p:nvPr/>
        </p:nvSpPr>
        <p:spPr>
          <a:xfrm>
            <a:off x="4572000" y="2130031"/>
            <a:ext cx="402336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D2EBE44-8C35-50D2-FAAF-B4132A3E58A3}"/>
              </a:ext>
            </a:extLst>
          </p:cNvPr>
          <p:cNvSpPr/>
          <p:nvPr/>
        </p:nvSpPr>
        <p:spPr>
          <a:xfrm>
            <a:off x="4572000" y="22250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r>
              <a:rPr lang="en-US" sz="12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(ORM)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D1E2684-0BED-11E5-C591-0935C7DA45A0}"/>
              </a:ext>
            </a:extLst>
          </p:cNvPr>
          <p:cNvSpPr/>
          <p:nvPr/>
        </p:nvSpPr>
        <p:spPr>
          <a:xfrm>
            <a:off x="4617720" y="2585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etudiants = db.query(Etudiant).</a:t>
            </a:r>
            <a:r>
              <a:rPr lang="en-US" sz="10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</a:t>
            </a:r>
            <a:r>
              <a:rPr lang="en-US" sz="10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(nouvel_etudiant)</a:t>
            </a:r>
            <a:endParaRPr lang="en-US" sz="100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836485E4-F0D8-E840-A457-E317F1E4853B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8AA1339A-DC92-4893-C37E-B4DF43A2FF5A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F0F71688-2490-7EF2-BB41-73D2A309C900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7/18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1654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de l'Application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22860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models.py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données: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Livre, Étudiant,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Emprunt, Auteur...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22860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Views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0574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login_view.py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student_dashboard.py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librarian_dashboard.py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utilisateur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560320" cy="2286000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12648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Utils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0574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theme.py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components.py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recommendation.py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UI,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thème, 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85216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7505114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bibliotheque_idsi/  →  main.py | models/ | views/ | utils/ | assets/</a:t>
            </a:r>
            <a:endParaRPr lang="en-US" sz="13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4136A9A3-4714-C083-75FA-F6A80AA43BA7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AEAFE239-2F61-1B0C-0F2C-CDD06F5FE143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2241FC17-EEFF-93D5-E967-A9D58A05D64D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8/18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Connexion</a:t>
            </a:r>
            <a:r>
              <a:rPr lang="en-US" sz="28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à la Base de Données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645920" cy="457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78720" y="7857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</a:t>
            </a: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models/database.py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2400" y="1288620"/>
            <a:ext cx="8229600" cy="1874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Configuration de la base de données SQLite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sqlalchemy </a:t>
            </a: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create_engine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sqlalchemy.orm </a:t>
            </a: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sessionmaker, declarative_base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"sqlite:///bibliotheque.db"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create_engine(DATABASE_URL)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SessionLocal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sessionmaker(bind=engine)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declarative_base()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72680" y="225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Chemin vers le fichier .db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2423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Moteur de connexion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Fabrique de sessions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Classe de base pour les modèles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0134" y="323041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</a:t>
            </a: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utilitaires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2400" y="3593340"/>
            <a:ext cx="4023360" cy="1463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3840" y="3616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get_db():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87045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"""Obtenir une session"""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5280" y="4123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SessionLocal()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3840" y="4526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Usage: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9560" y="47424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get_db()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3588840"/>
            <a:ext cx="4023360" cy="1463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72000" y="3657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init_db():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9511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"""Créer les tables"""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409905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Base.metadata.create_all(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4324815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bind=engine)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4553415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Crée toutes les tables automatiquement</a:t>
            </a:r>
            <a:endParaRPr lang="en-US" sz="1000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4036917F-0651-597E-9A7C-DB813982C7E7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44856951-71E9-8FC7-DE1A-6C5F3237317A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92EA38E4-0987-41AB-70A9-0B02817BCC54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9/18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219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 Classes (Modèles) du Projet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645920" cy="457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Fichier : models/models.py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0669" y="1178923"/>
            <a:ext cx="3742509" cy="431074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159330"/>
            <a:ext cx="3742509" cy="431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Classe Etudiant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4138" y="1609996"/>
            <a:ext cx="3749040" cy="1423851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Etudiant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__tablename__ = </a:t>
            </a: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'etudiants'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Column(Integer, 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matricule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Column(String)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Column(String)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Column(String)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mot_de_passe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Column(String)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filiere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Column(String)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54880" y="1175004"/>
            <a:ext cx="3500846" cy="365760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50377" y="11978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classes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créées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41817" y="1540764"/>
            <a:ext cx="3513909" cy="139446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4138" y="3053440"/>
            <a:ext cx="3749040" cy="41148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 13"/>
          <p:cNvSpPr/>
          <p:nvPr/>
        </p:nvSpPr>
        <p:spPr>
          <a:xfrm>
            <a:off x="169818" y="30861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Emprunt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4138" y="3495621"/>
            <a:ext cx="3749040" cy="114038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Emprunt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etudiant_id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Column(FK)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livre_id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Column(FK)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date_emprunt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Column(DateTime)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date_retour_prevue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Column(DateTime)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penalite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Column(Float)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41817" y="2953512"/>
            <a:ext cx="3513909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493623" y="2931305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Méthodes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importantes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388504"/>
            <a:ext cx="3500846" cy="177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hash_password(pwd)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3663" y="3578243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Hasher le mot de passe (SHA-256)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41817" y="3707239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verify_password(pwd)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13663" y="3876403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mot de passe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4065161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calculer_penalite()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13663" y="42611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les pénalités de retard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442471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est_en_retard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3663" y="460890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: emprunt en retard 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67943" y="476206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retourner()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9383" y="4958333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le retour d'un livre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41817" y="1684619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👨‍🎓 Etudiant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67943" y="196285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Bibliothecaire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94069" y="218884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Livre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13663" y="23921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Auteur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170290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Emprunt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51023" y="19577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🔖 Reservation</a:t>
            </a:r>
            <a:endParaRPr lang="en-US" sz="1000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BA9399A2-D826-2006-36E8-3DAD9D7F397C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B1C77EAB-C42D-36CD-38C0-DB9CBD774B3D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E7C6ED38-6437-76BB-7AFD-6016C787803D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10/18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9986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Modèle</a:t>
            </a:r>
            <a:r>
              <a:rPr lang="en-US" sz="32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de Données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isbn, titre, catégorie,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quantité, auteurs...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Étudiant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matricule, nom,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programme...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411480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12648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Emprunt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600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étudiant_id, livre_id,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date_emprunt, pénalité...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5176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51760" cy="41148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nom, prénom,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nationalité...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65176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91840" y="3017520"/>
            <a:ext cx="2651760" cy="411480"/>
          </a:xfrm>
          <a:prstGeom prst="rect">
            <a:avLst/>
          </a:prstGeom>
          <a:solidFill>
            <a:srgbClr val="D5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29184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Bibliothécaire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identifiant, nom,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rôle...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651760" cy="1645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651760" cy="41148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2648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étudiant_id, livre_id,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date_expiration...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Relations: Livre ↔ Auteur (N:N) | Étudiant → Emprunt → Livre</a:t>
            </a:r>
            <a:endParaRPr lang="en-US" sz="1200" dirty="0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59752320-EA30-DE79-1787-B7A8F0EDDACA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8C062D2C-5959-0517-B60E-E1520860069C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7A2F9104-12FB-17E3-2BFE-674936391080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11/18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Règles</a:t>
            </a:r>
            <a:r>
              <a:rPr lang="en-US" sz="32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de Gestion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2011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Emprunts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Durée d'emprunt: 14 jours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Maximum: 5 livres par étudiant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Livre non disponible = emprunt impossible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Retour = livre redevient disponible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2011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solidFill>
            <a:srgbClr val="D5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66344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Pénalités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FCFA par jour de retard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 automatique à chaque connexion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Affichage dans le tableau de bord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Alerte si pénalités &gt; 0 FCFA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02336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023360" cy="457200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Durée de réservation: 3 jours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Expiration automatique après délai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3291840"/>
            <a:ext cx="402336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4023360" cy="457200"/>
          </a:xfrm>
          <a:prstGeom prst="rect">
            <a:avLst/>
          </a:prstGeom>
          <a:solidFill>
            <a:srgbClr val="0021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663440" y="3337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886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Mots de passe hashés (SHA-256)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Minimum 8 caractères requis</a:t>
            </a:r>
            <a:endParaRPr lang="en-US" sz="1300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17B22D8-B15E-6A11-B977-116604D68CCA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BD47BAAB-0C6E-8B99-5B0B-D6330C579275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19F904AD-6CF3-0769-F538-567C67618E21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12/18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Fonctionnalités</a:t>
            </a:r>
            <a:r>
              <a:rPr lang="en-US" sz="32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Étudiant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051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94360" cy="59436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des emprunts, retards et pénalités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051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892040" y="1325880"/>
            <a:ext cx="594360" cy="59436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2356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et parcourir tous les livres disponibles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114800" cy="1051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94360" y="2560320"/>
            <a:ext cx="594360" cy="59436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Emprunter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Emprunter un livre en un clic (max 5 livres)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114800" cy="1051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92040" y="2560320"/>
            <a:ext cx="594360" cy="59436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9204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23560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Emprunts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avec dates de retour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4114800" cy="1051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94360" y="3794760"/>
            <a:ext cx="594360" cy="59436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94360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Profil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ses informations personnelles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114800" cy="1051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892040" y="3794760"/>
            <a:ext cx="594360" cy="594360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92040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2356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2356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mot de passe et profil</a:t>
            </a:r>
            <a:endParaRPr lang="en-US" sz="1100" dirty="0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A959A3EC-FE6F-5D54-8510-4E9007963A8C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730C8730-71F0-6B18-CFC7-828ADE2EC65C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1C371B74-9A7D-97D8-49F4-DF2F72384BEA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13/18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Fonctionnalités</a:t>
            </a:r>
            <a:r>
              <a:rPr lang="en-US" sz="32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Bibliothécaire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051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94360" cy="59436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globales et alertes retards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051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892040" y="1325880"/>
            <a:ext cx="594360" cy="59436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2356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Livres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Ajouter, modifier, supprimer des livres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114800" cy="1051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94360" y="2560320"/>
            <a:ext cx="594360" cy="59436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Étudiants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et informations des étudiants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114800" cy="1051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92040" y="2560320"/>
            <a:ext cx="594360" cy="59436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9204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23560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Emprunts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tous les emprunts en cours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4114800" cy="1051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94360" y="3794760"/>
            <a:ext cx="594360" cy="59436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94360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↩️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les retours et calculer pénalités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114800" cy="10515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892040" y="3794760"/>
            <a:ext cx="594360" cy="59436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92040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2356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2356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son profil et mot de passe</a:t>
            </a:r>
            <a:endParaRPr lang="en-US" sz="1100" dirty="0"/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285A81CF-FAD7-BF50-B535-57CB06A4E954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6276E5E8-8155-7169-50EF-F2DD49C3A7F7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BA268D43-32CA-FE04-E7F5-05C6FD8F8DA6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14/18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47A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Guide d'Utilisation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0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Installation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07160"/>
            <a:ext cx="8229600" cy="11887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78080" y="1352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Extraire l'archive et aller dans le dossier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bibliotheque_idsi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Créer et activer l'environnement virtuel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 &amp;&amp; venv\Scripts\activate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Installer les dépendances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55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Lancement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55760"/>
            <a:ext cx="822960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78080" y="29806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init_data.py    # Initialiser la base de données (une seule fois)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        # Lancer l'application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0800" y="363307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Comptes de test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576340"/>
              </p:ext>
            </p:extLst>
          </p:nvPr>
        </p:nvGraphicFramePr>
        <p:xfrm>
          <a:off x="370800" y="3989470"/>
          <a:ext cx="8229600" cy="1097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 de passe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Bibliothécaire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Étudiant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IDSI-2024-001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etudiant123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Groupe 11">
            <a:extLst>
              <a:ext uri="{FF2B5EF4-FFF2-40B4-BE49-F238E27FC236}">
                <a16:creationId xmlns:a16="http://schemas.microsoft.com/office/drawing/2014/main" id="{00757C8E-F8B6-D46B-2368-56B630F884AD}"/>
              </a:ext>
            </a:extLst>
          </p:cNvPr>
          <p:cNvGrpSpPr/>
          <p:nvPr/>
        </p:nvGrpSpPr>
        <p:grpSpPr>
          <a:xfrm>
            <a:off x="8574258" y="4681728"/>
            <a:ext cx="520505" cy="389675"/>
            <a:chOff x="8574258" y="4681728"/>
            <a:chExt cx="520505" cy="389675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C748C0EC-4775-3A2E-2AA8-296C1DE4FC13}"/>
                </a:ext>
              </a:extLst>
            </p:cNvPr>
            <p:cNvSpPr/>
            <p:nvPr/>
          </p:nvSpPr>
          <p:spPr>
            <a:xfrm>
              <a:off x="8574258" y="4681728"/>
              <a:ext cx="485336" cy="3896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6FB13A02-55D7-16D3-F703-B3D50006C10F}"/>
                </a:ext>
              </a:extLst>
            </p:cNvPr>
            <p:cNvSpPr txBox="1"/>
            <p:nvPr/>
          </p:nvSpPr>
          <p:spPr>
            <a:xfrm>
              <a:off x="8609427" y="4761149"/>
              <a:ext cx="4853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/>
                <a:t>15/18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1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Application complète de gestion de bibliothèque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Interface moderne avec CustomTkinter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Architecture MVC bien structurée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Deux espaces distincts: Étudiant et Bibliothécaire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Système de pénalités automatique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Sécurité: mots de passe hashés, modification de profil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Base de données SQLite avec SQLAlchemy 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pour votre attention 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1651</TotalTime>
  <Words>1305</Words>
  <Application>Microsoft Office PowerPoint</Application>
  <PresentationFormat>Affichage à l'écran (16:9)</PresentationFormat>
  <Paragraphs>327</Paragraphs>
  <Slides>18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Aptos</vt:lpstr>
      <vt:lpstr>Arial</vt:lpstr>
      <vt:lpstr>Arial Black</vt:lpstr>
      <vt:lpstr>Calibri</vt:lpstr>
      <vt:lpstr>Consolas</vt:lpstr>
      <vt:lpstr>Hammersmith One</vt:lpstr>
      <vt:lpstr>Office Theme</vt:lpstr>
      <vt:lpstr>PROJET PROGRAMMATION PYTHON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Gestion de Bibliothèque IDSI</dc:title>
  <dc:subject>Projet de Programmation Python</dc:subject>
  <dc:creator>IDSI - Projet Python</dc:creator>
  <cp:lastModifiedBy>Tchewa Amy Doma SORO</cp:lastModifiedBy>
  <cp:revision>5</cp:revision>
  <dcterms:created xsi:type="dcterms:W3CDTF">2026-01-31T19:38:38Z</dcterms:created>
  <dcterms:modified xsi:type="dcterms:W3CDTF">2026-02-02T09:02:48Z</dcterms:modified>
</cp:coreProperties>
</file>